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57" r:id="rId6"/>
    <p:sldId id="258" r:id="rId7"/>
    <p:sldId id="260" r:id="rId8"/>
    <p:sldId id="259" r:id="rId9"/>
    <p:sldId id="270" r:id="rId10"/>
    <p:sldId id="264" r:id="rId11"/>
    <p:sldId id="263" r:id="rId12"/>
    <p:sldId id="268" r:id="rId13"/>
    <p:sldId id="269" r:id="rId14"/>
    <p:sldId id="261" r:id="rId15"/>
    <p:sldId id="271" r:id="rId16"/>
    <p:sldId id="272" r:id="rId17"/>
    <p:sldId id="26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26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43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10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200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30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63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43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290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84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013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709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833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542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680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062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62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122993D-A140-4BA3-8075-5F2FC17AB1B8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A275269-0607-48FB-A28E-C2C79286F9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09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89E04-4D58-E075-EF7B-E56893ECB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0287" y="1988191"/>
            <a:ext cx="9623820" cy="2232842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effectLst/>
              </a:rPr>
              <a:t>Интеллектуальная система анализа финансовых новостей с использованием методов машинного обучения для классификации и суммаризации текста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0B2426-A0C4-4851-465C-CD5B1A9DFEF5}"/>
              </a:ext>
            </a:extLst>
          </p:cNvPr>
          <p:cNvSpPr txBox="1"/>
          <p:nvPr/>
        </p:nvSpPr>
        <p:spPr>
          <a:xfrm>
            <a:off x="2998068" y="5704513"/>
            <a:ext cx="619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Выполнил студент группы КМБО-03-23 Калинин Данила</a:t>
            </a:r>
          </a:p>
        </p:txBody>
      </p:sp>
    </p:spTree>
    <p:extLst>
      <p:ext uri="{BB962C8B-B14F-4D97-AF65-F5344CB8AC3E}">
        <p14:creationId xmlns:p14="http://schemas.microsoft.com/office/powerpoint/2010/main" val="77632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3E1CB-F80F-5AEB-B43F-4320F1C5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>
            <a:normAutofit/>
          </a:bodyPr>
          <a:lstStyle/>
          <a:p>
            <a:r>
              <a:rPr lang="ru-RU" sz="3200" dirty="0"/>
              <a:t>Цель и актуальность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3CBF75-C181-8EA1-98C2-ED72C8AFB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185769"/>
            <a:ext cx="10447964" cy="494950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b="1" dirty="0">
                <a:effectLst/>
              </a:rPr>
              <a:t>Цель</a:t>
            </a:r>
            <a:r>
              <a:rPr lang="en-US" b="1" dirty="0">
                <a:effectLst/>
              </a:rPr>
              <a:t>:</a:t>
            </a:r>
            <a:endParaRPr lang="ru-RU" b="1" dirty="0">
              <a:effectLst/>
            </a:endParaRPr>
          </a:p>
          <a:p>
            <a:r>
              <a:rPr lang="ru-RU" dirty="0">
                <a:effectLst/>
              </a:rPr>
              <a:t>Разработка интеллектуальной системы анализа финансовых новостей, обеспечивающих автоматическое получения новостных данных по API, определение их тональности и генерацию кратких аннотаций.</a:t>
            </a:r>
            <a:endParaRPr lang="en-US" dirty="0">
              <a:effectLst/>
            </a:endParaRPr>
          </a:p>
          <a:p>
            <a:pPr marL="36900" indent="0">
              <a:buNone/>
            </a:pPr>
            <a:r>
              <a:rPr lang="ru-RU" b="1" dirty="0">
                <a:effectLst/>
              </a:rPr>
              <a:t>Актуальность</a:t>
            </a:r>
            <a:r>
              <a:rPr lang="en-US" b="1" dirty="0">
                <a:effectLst/>
              </a:rPr>
              <a:t>:</a:t>
            </a:r>
            <a:endParaRPr lang="ru-RU" b="1" dirty="0">
              <a:effectLst/>
            </a:endParaRPr>
          </a:p>
          <a:p>
            <a:r>
              <a:rPr lang="ru-RU" dirty="0">
                <a:effectLst/>
              </a:rPr>
              <a:t>Новости оказывают сильное влияние на динамику рыночных настроений. Инструмент для их быстрого анализа является основным в работе финансового аналитика.</a:t>
            </a:r>
          </a:p>
          <a:p>
            <a:r>
              <a:rPr lang="ru-RU" dirty="0">
                <a:effectLst/>
              </a:rPr>
              <a:t>Ручной анализ отдельной статьи занимает значительное количество времени</a:t>
            </a:r>
            <a:r>
              <a:rPr lang="en-US" dirty="0">
                <a:effectLst/>
              </a:rPr>
              <a:t> </a:t>
            </a:r>
            <a:r>
              <a:rPr lang="ru-RU" dirty="0">
                <a:effectLst/>
              </a:rPr>
              <a:t>ресурсов работника. </a:t>
            </a:r>
          </a:p>
          <a:p>
            <a:r>
              <a:rPr lang="ru-RU" dirty="0">
                <a:effectLst/>
              </a:rPr>
              <a:t>Алгоритмы машинного обучения позволяют автоматизировать процесс анализа, самостоятельно выделяя наиболее значимую информацию из текста и анализируя его тональность.</a:t>
            </a:r>
          </a:p>
          <a:p>
            <a:endParaRPr lang="ru-RU" dirty="0"/>
          </a:p>
          <a:p>
            <a:pPr marL="369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246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93F23-F916-2672-3259-6BC068D93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3585"/>
            <a:ext cx="10353762" cy="970450"/>
          </a:xfrm>
        </p:spPr>
        <p:txBody>
          <a:bodyPr/>
          <a:lstStyle/>
          <a:p>
            <a:r>
              <a:rPr lang="en-GB" dirty="0"/>
              <a:t>Reuters</a:t>
            </a:r>
            <a:r>
              <a:rPr lang="ru-RU" dirty="0"/>
              <a:t> </a:t>
            </a:r>
            <a:r>
              <a:rPr lang="en-GB" dirty="0"/>
              <a:t>Financial</a:t>
            </a:r>
            <a:r>
              <a:rPr lang="ru-RU" dirty="0"/>
              <a:t> </a:t>
            </a:r>
            <a:r>
              <a:rPr lang="en-GB" dirty="0"/>
              <a:t>News</a:t>
            </a:r>
            <a:r>
              <a:rPr lang="ru-RU" dirty="0"/>
              <a:t> </a:t>
            </a:r>
            <a:r>
              <a:rPr lang="en-US" dirty="0"/>
              <a:t>dataset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C9C25CD-22C7-5550-E4D5-1D56B1E98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237" y="1499993"/>
            <a:ext cx="9605525" cy="10689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B58A4A-BF81-09BB-F62F-01F0FAECB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27" y="3568623"/>
            <a:ext cx="4622335" cy="2504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04ECB9-D253-9B9E-8B6C-2436A8CC6F4E}"/>
              </a:ext>
            </a:extLst>
          </p:cNvPr>
          <p:cNvSpPr txBox="1"/>
          <p:nvPr/>
        </p:nvSpPr>
        <p:spPr>
          <a:xfrm>
            <a:off x="650147" y="4992913"/>
            <a:ext cx="5096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Дообучение моделей будет производиться на подмножестве из 10000 новостей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BD5968-8680-5C85-020F-8E9E6AFA9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237" y="2836705"/>
            <a:ext cx="3133288" cy="16358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98D2FA-26A9-5BEB-16B1-4BA57AA760E5}"/>
              </a:ext>
            </a:extLst>
          </p:cNvPr>
          <p:cNvSpPr txBox="1"/>
          <p:nvPr/>
        </p:nvSpPr>
        <p:spPr>
          <a:xfrm>
            <a:off x="650147" y="1064035"/>
            <a:ext cx="800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Датасет </a:t>
            </a:r>
            <a:r>
              <a:rPr lang="ru-RU" dirty="0" err="1"/>
              <a:t>предствлен</a:t>
            </a:r>
            <a:r>
              <a:rPr lang="ru-RU" dirty="0"/>
              <a:t> на </a:t>
            </a:r>
            <a:r>
              <a:rPr lang="en-US" dirty="0"/>
              <a:t>Hugging Face: </a:t>
            </a:r>
            <a:r>
              <a:rPr lang="en-US" dirty="0" err="1"/>
              <a:t>danidanou</a:t>
            </a:r>
            <a:r>
              <a:rPr lang="en-US" dirty="0"/>
              <a:t>/</a:t>
            </a:r>
            <a:r>
              <a:rPr lang="en-US" dirty="0" err="1"/>
              <a:t>Reuters_Financial_News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C77AA-27B8-6FB8-6AFA-91F4874C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46" y="96350"/>
            <a:ext cx="10353762" cy="970450"/>
          </a:xfrm>
        </p:spPr>
        <p:txBody>
          <a:bodyPr/>
          <a:lstStyle/>
          <a:p>
            <a:r>
              <a:rPr lang="en-GB" dirty="0"/>
              <a:t>Financial classification dataset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3DCBF-6DA0-B697-6C6D-E94C1253BCF2}"/>
              </a:ext>
            </a:extLst>
          </p:cNvPr>
          <p:cNvSpPr txBox="1"/>
          <p:nvPr/>
        </p:nvSpPr>
        <p:spPr>
          <a:xfrm>
            <a:off x="1027046" y="1066800"/>
            <a:ext cx="7751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Датасет </a:t>
            </a:r>
            <a:r>
              <a:rPr lang="ru-RU" dirty="0" err="1"/>
              <a:t>предствлен</a:t>
            </a:r>
            <a:r>
              <a:rPr lang="ru-RU" dirty="0"/>
              <a:t> на </a:t>
            </a:r>
            <a:r>
              <a:rPr lang="en-US" dirty="0"/>
              <a:t>Hugging Face: </a:t>
            </a:r>
            <a:r>
              <a:rPr lang="en-US" dirty="0" err="1"/>
              <a:t>nickmuchi</a:t>
            </a:r>
            <a:r>
              <a:rPr lang="en-US" dirty="0"/>
              <a:t>/financial-classification</a:t>
            </a:r>
            <a:endParaRPr lang="ru-RU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0EE956-2B57-B8CE-3084-725ED5A7C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59" y="1566324"/>
            <a:ext cx="3552662" cy="32110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27F517-34C5-F249-6CDF-5BA8373F4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27" y="2675863"/>
            <a:ext cx="3766926" cy="21015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68A879-8F40-8E9E-EE8D-402A4FE81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658" y="5162477"/>
            <a:ext cx="3552663" cy="12574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930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2923B-9A8F-8C79-0D42-8AE3B6A8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49" y="215318"/>
            <a:ext cx="11003304" cy="970450"/>
          </a:xfrm>
        </p:spPr>
        <p:txBody>
          <a:bodyPr>
            <a:normAutofit/>
          </a:bodyPr>
          <a:lstStyle/>
          <a:p>
            <a:r>
              <a:rPr lang="en-US" sz="2400" dirty="0"/>
              <a:t>Pegasus - Pre-training with Extracted Gap-sentences for Abstractive Summarization</a:t>
            </a:r>
            <a:endParaRPr lang="ru-RU" sz="24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1D0CCB6-31D2-A923-869B-0016403B4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312" y="1185768"/>
            <a:ext cx="3888297" cy="521068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4D6F3-41B5-8800-B67A-EE1599055FBF}"/>
              </a:ext>
            </a:extLst>
          </p:cNvPr>
          <p:cNvSpPr txBox="1"/>
          <p:nvPr/>
        </p:nvSpPr>
        <p:spPr>
          <a:xfrm>
            <a:off x="616590" y="3052447"/>
            <a:ext cx="6207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Разработчик - Google Research, лето 2020 года.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Базовая архитектура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</a:t>
            </a:r>
            <a:r>
              <a:rPr lang="ru-RU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классический </a:t>
            </a:r>
            <a:r>
              <a:rPr lang="en-GB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Seq2Seq Transformer (</a:t>
            </a:r>
            <a:r>
              <a:rPr lang="ru-RU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Энкодер-Декодер) с механизмом </a:t>
            </a:r>
            <a:r>
              <a:rPr lang="en-GB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Cross-Attention.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559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BBC29-F942-9993-A431-55AA1A59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77" y="148204"/>
            <a:ext cx="11367082" cy="970450"/>
          </a:xfrm>
        </p:spPr>
        <p:txBody>
          <a:bodyPr>
            <a:normAutofit/>
          </a:bodyPr>
          <a:lstStyle/>
          <a:p>
            <a:r>
              <a:rPr lang="en-US" sz="3200" dirty="0"/>
              <a:t>BART - </a:t>
            </a:r>
            <a:r>
              <a:rPr lang="en-GB" sz="3200" dirty="0"/>
              <a:t>Bidirectional and Auto-Regressive Transformer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656388-076F-404F-207C-5D8475555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26" y="2790135"/>
            <a:ext cx="7050948" cy="2231748"/>
          </a:xfrm>
        </p:spPr>
        <p:txBody>
          <a:bodyPr/>
          <a:lstStyle/>
          <a:p>
            <a:r>
              <a:rPr lang="ru-RU" dirty="0"/>
              <a:t>Разработчик</a:t>
            </a:r>
            <a:r>
              <a:rPr lang="en-US" dirty="0"/>
              <a:t>: </a:t>
            </a:r>
            <a:r>
              <a:rPr lang="it-IT" dirty="0"/>
              <a:t>Meta AI (Facebook), конец 2019 года.</a:t>
            </a:r>
          </a:p>
          <a:p>
            <a:r>
              <a:rPr lang="ru-RU" dirty="0"/>
              <a:t>Архитектура</a:t>
            </a:r>
            <a:r>
              <a:rPr lang="en-US" dirty="0"/>
              <a:t>: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классический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Seq2Seq Transformer (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Энкодер-Декодер) 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B98908-43AF-9C1E-AA88-D8B088142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174" y="1051539"/>
            <a:ext cx="4018326" cy="55747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916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0F0E5-79FE-942C-424B-72CE05C1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/>
          <a:lstStyle/>
          <a:p>
            <a:r>
              <a:rPr lang="en-US" dirty="0" err="1"/>
              <a:t>FinB</a:t>
            </a:r>
            <a:r>
              <a:rPr lang="en-AU" dirty="0"/>
              <a:t>ERT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0BDA5B-4DAB-E4FD-5993-9203190A0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502261"/>
            <a:ext cx="6346272" cy="3151918"/>
          </a:xfrm>
        </p:spPr>
        <p:txBody>
          <a:bodyPr>
            <a:normAutofit/>
          </a:bodyPr>
          <a:lstStyle/>
          <a:p>
            <a:r>
              <a:rPr lang="ru-RU" b="1" dirty="0"/>
              <a:t>Разработчик</a:t>
            </a:r>
            <a:r>
              <a:rPr lang="en-US" dirty="0"/>
              <a:t>: </a:t>
            </a:r>
            <a:r>
              <a:rPr lang="ru-RU" dirty="0"/>
              <a:t>команда </a:t>
            </a:r>
            <a:r>
              <a:rPr lang="en-US" dirty="0" err="1"/>
              <a:t>ProsusAI</a:t>
            </a:r>
            <a:endParaRPr lang="en-US" b="1" dirty="0"/>
          </a:p>
          <a:p>
            <a:r>
              <a:rPr lang="ru-RU" b="1" dirty="0"/>
              <a:t>Базовая архитектура -</a:t>
            </a:r>
            <a:r>
              <a:rPr lang="ru-RU" dirty="0"/>
              <a:t> </a:t>
            </a:r>
            <a:r>
              <a:rPr lang="ru-RU" dirty="0" err="1"/>
              <a:t>Encoder-only</a:t>
            </a:r>
            <a:r>
              <a:rPr lang="ru-RU" dirty="0"/>
              <a:t> </a:t>
            </a:r>
            <a:r>
              <a:rPr lang="ru-RU" dirty="0" err="1"/>
              <a:t>Transformer</a:t>
            </a:r>
            <a:r>
              <a:rPr lang="ru-RU" dirty="0"/>
              <a:t> на базе архитектуры BERT-</a:t>
            </a:r>
            <a:r>
              <a:rPr lang="ru-RU" dirty="0" err="1"/>
              <a:t>base</a:t>
            </a:r>
            <a:r>
              <a:rPr lang="ru-RU" dirty="0"/>
              <a:t>. </a:t>
            </a:r>
            <a:endParaRPr lang="en-AU" dirty="0"/>
          </a:p>
          <a:p>
            <a:endParaRPr lang="en-AU" dirty="0"/>
          </a:p>
          <a:p>
            <a:pPr marL="36900" indent="0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366ECC-D0C3-8287-EA5E-0641C6D0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103" y="779515"/>
            <a:ext cx="2887504" cy="55359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1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9E403-70F9-F4CC-7CA3-111D6D3A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5622"/>
            <a:ext cx="10353762" cy="970450"/>
          </a:xfrm>
        </p:spPr>
        <p:txBody>
          <a:bodyPr/>
          <a:lstStyle/>
          <a:p>
            <a:r>
              <a:rPr lang="en-US" dirty="0" err="1"/>
              <a:t>LoRA</a:t>
            </a:r>
            <a:r>
              <a:rPr lang="en-US" dirty="0"/>
              <a:t> - </a:t>
            </a:r>
            <a:r>
              <a:rPr lang="en-GB" dirty="0"/>
              <a:t>Low-Rank Adaptation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6191006-E948-7DBD-B9D1-4584AA39D0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7781" y="1840044"/>
                <a:ext cx="7261371" cy="4058751"/>
              </a:xfrm>
            </p:spPr>
            <p:txBody>
              <a:bodyPr/>
              <a:lstStyle/>
              <a:p>
                <a:r>
                  <a:rPr lang="ru-RU" dirty="0"/>
                  <a:t>Веса базовой модели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полностью замораживаются </a:t>
                </a:r>
                <a:endParaRPr lang="en-US" dirty="0"/>
              </a:p>
              <a:p>
                <a:r>
                  <a:rPr lang="ru-RU" dirty="0"/>
                  <a:t>Вместо обучения огромной матрицы изменений, мы обучаем две маленькие матрицы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ru-RU" dirty="0"/>
                  <a:t>где </a:t>
                </a:r>
                <a:r>
                  <a:rPr lang="en-US" dirty="0"/>
                  <a:t>r – </a:t>
                </a:r>
                <a:r>
                  <a:rPr lang="ru-RU" dirty="0"/>
                  <a:t>внутренний ранг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Итоговая формула прямого прохода имеет вид</a:t>
                </a:r>
                <a:r>
                  <a:rPr lang="en-US" dirty="0"/>
                  <a:t>:</a:t>
                </a:r>
              </a:p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𝐴𝐵𝑥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Использование адаптеров позволяет в разы сократить количество обучаемых параметров модели, показывая при этом практически одинаковые результаты в сравнении с полным дообучением модели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6191006-E948-7DBD-B9D1-4584AA39D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781" y="1840044"/>
                <a:ext cx="7261371" cy="405875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DD2A57-72C2-A86A-569F-A9CDF9C0A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874" y="1713071"/>
            <a:ext cx="4267844" cy="39853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558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421341-2D00-D4CC-E054-AC852621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/>
          <a:lstStyle/>
          <a:p>
            <a:r>
              <a:rPr lang="ru-RU" dirty="0"/>
              <a:t>Метрика качества </a:t>
            </a:r>
            <a:r>
              <a:rPr lang="en-US" dirty="0"/>
              <a:t>ROUNGE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06B8D95-E45A-8FFE-E60B-8FDD27460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272705"/>
              </p:ext>
            </p:extLst>
          </p:nvPr>
        </p:nvGraphicFramePr>
        <p:xfrm>
          <a:off x="541958" y="1964206"/>
          <a:ext cx="11166804" cy="287086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80657">
                  <a:extLst>
                    <a:ext uri="{9D8B030D-6E8A-4147-A177-3AD203B41FA5}">
                      <a16:colId xmlns:a16="http://schemas.microsoft.com/office/drawing/2014/main" val="3680360149"/>
                    </a:ext>
                  </a:extLst>
                </a:gridCol>
                <a:gridCol w="4133023">
                  <a:extLst>
                    <a:ext uri="{9D8B030D-6E8A-4147-A177-3AD203B41FA5}">
                      <a16:colId xmlns:a16="http://schemas.microsoft.com/office/drawing/2014/main" val="3535650964"/>
                    </a:ext>
                  </a:extLst>
                </a:gridCol>
                <a:gridCol w="1646992">
                  <a:extLst>
                    <a:ext uri="{9D8B030D-6E8A-4147-A177-3AD203B41FA5}">
                      <a16:colId xmlns:a16="http://schemas.microsoft.com/office/drawing/2014/main" val="563177401"/>
                    </a:ext>
                  </a:extLst>
                </a:gridCol>
                <a:gridCol w="1874939">
                  <a:extLst>
                    <a:ext uri="{9D8B030D-6E8A-4147-A177-3AD203B41FA5}">
                      <a16:colId xmlns:a16="http://schemas.microsoft.com/office/drawing/2014/main" val="416109563"/>
                    </a:ext>
                  </a:extLst>
                </a:gridCol>
                <a:gridCol w="2031193">
                  <a:extLst>
                    <a:ext uri="{9D8B030D-6E8A-4147-A177-3AD203B41FA5}">
                      <a16:colId xmlns:a16="http://schemas.microsoft.com/office/drawing/2014/main" val="1364085970"/>
                    </a:ext>
                  </a:extLst>
                </a:gridCol>
              </a:tblGrid>
              <a:tr h="83348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Метрика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Что показывает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Отличный 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Средний 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Плохой 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368749"/>
                  </a:ext>
                </a:extLst>
              </a:tr>
              <a:tr h="4828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ROUNGE-1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Совпадение слов в предсказанном и эталонном текстах, без учета их порядка.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&gt; 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25% – 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&lt; 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432709"/>
                  </a:ext>
                </a:extLst>
              </a:tr>
              <a:tr h="4828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ROUNGE-2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Связность и синтаксис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&gt; 1</a:t>
                      </a:r>
                      <a:r>
                        <a:rPr lang="en-US" dirty="0"/>
                        <a:t>6</a:t>
                      </a:r>
                      <a:r>
                        <a:rPr lang="ru-RU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10% – 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&lt; 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028254"/>
                  </a:ext>
                </a:extLst>
              </a:tr>
              <a:tr h="4828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ROUNGE-L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Сохранение общей логики повествования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&gt; 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22% – 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&lt; 22%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768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74CD6D-9990-AF5B-8B61-2CC35349AB0D}"/>
              </a:ext>
            </a:extLst>
          </p:cNvPr>
          <p:cNvSpPr txBox="1"/>
          <p:nvPr/>
        </p:nvSpPr>
        <p:spPr>
          <a:xfrm>
            <a:off x="2924420" y="1237376"/>
            <a:ext cx="6401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ROUNGE - </a:t>
            </a:r>
            <a:r>
              <a:rPr lang="ru-RU" dirty="0" err="1"/>
              <a:t>Recall-Oriented</a:t>
            </a:r>
            <a:r>
              <a:rPr lang="ru-RU" dirty="0"/>
              <a:t> </a:t>
            </a:r>
            <a:r>
              <a:rPr lang="ru-RU" dirty="0" err="1"/>
              <a:t>Understudy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Gisting</a:t>
            </a:r>
            <a:r>
              <a:rPr lang="ru-RU" dirty="0"/>
              <a:t> </a:t>
            </a:r>
            <a:r>
              <a:rPr lang="ru-RU" dirty="0" err="1"/>
              <a:t>Evaluation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0400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D29D9-DEA1-6430-4221-BFAFFFA4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90" y="146684"/>
            <a:ext cx="10931460" cy="742549"/>
          </a:xfrm>
        </p:spPr>
        <p:txBody>
          <a:bodyPr>
            <a:normAutofit/>
          </a:bodyPr>
          <a:lstStyle/>
          <a:p>
            <a:r>
              <a:rPr lang="ru-RU" dirty="0"/>
              <a:t>Дообучение модели </a:t>
            </a:r>
            <a:r>
              <a:rPr lang="en-US" dirty="0"/>
              <a:t>PEGASUS. </a:t>
            </a:r>
            <a:r>
              <a:rPr lang="ru-RU" dirty="0"/>
              <a:t>Результаты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2D73EF7-B4F0-760E-F393-CBC3A48AF3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699813"/>
              </p:ext>
            </p:extLst>
          </p:nvPr>
        </p:nvGraphicFramePr>
        <p:xfrm>
          <a:off x="2098239" y="4538444"/>
          <a:ext cx="7574269" cy="171974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170141">
                  <a:extLst>
                    <a:ext uri="{9D8B030D-6E8A-4147-A177-3AD203B41FA5}">
                      <a16:colId xmlns:a16="http://schemas.microsoft.com/office/drawing/2014/main" val="1625254711"/>
                    </a:ext>
                  </a:extLst>
                </a:gridCol>
                <a:gridCol w="1785797">
                  <a:extLst>
                    <a:ext uri="{9D8B030D-6E8A-4147-A177-3AD203B41FA5}">
                      <a16:colId xmlns:a16="http://schemas.microsoft.com/office/drawing/2014/main" val="624551046"/>
                    </a:ext>
                  </a:extLst>
                </a:gridCol>
                <a:gridCol w="1860791">
                  <a:extLst>
                    <a:ext uri="{9D8B030D-6E8A-4147-A177-3AD203B41FA5}">
                      <a16:colId xmlns:a16="http://schemas.microsoft.com/office/drawing/2014/main" val="1622734706"/>
                    </a:ext>
                  </a:extLst>
                </a:gridCol>
                <a:gridCol w="1757540">
                  <a:extLst>
                    <a:ext uri="{9D8B030D-6E8A-4147-A177-3AD203B41FA5}">
                      <a16:colId xmlns:a16="http://schemas.microsoft.com/office/drawing/2014/main" val="1485288785"/>
                    </a:ext>
                  </a:extLst>
                </a:gridCol>
              </a:tblGrid>
              <a:tr h="57369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Этап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ROUGE-1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L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741664"/>
                  </a:ext>
                </a:extLst>
              </a:tr>
              <a:tr h="57302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Обучение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45.07%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21.33%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36.75%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861780"/>
                  </a:ext>
                </a:extLst>
              </a:tr>
              <a:tr h="57302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43.09%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19.97%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33.48%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655519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7C394D-0235-D8A4-FFE6-E5009FEB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57" y="1183450"/>
            <a:ext cx="3944115" cy="25788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7694F6-95CA-0076-832D-2F197AA16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720" y="1479343"/>
            <a:ext cx="3746606" cy="1854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581B8F-DA60-7CDB-0BE4-93EE48A1D9E6}"/>
              </a:ext>
            </a:extLst>
          </p:cNvPr>
          <p:cNvSpPr txBox="1"/>
          <p:nvPr/>
        </p:nvSpPr>
        <p:spPr>
          <a:xfrm>
            <a:off x="817927" y="3923758"/>
            <a:ext cx="1039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 помощью адаптера </a:t>
            </a:r>
            <a:r>
              <a:rPr lang="en-US" dirty="0" err="1"/>
              <a:t>LoRA</a:t>
            </a:r>
            <a:r>
              <a:rPr lang="ru-RU" dirty="0"/>
              <a:t> число обучаемых параметров составило 1,572,864 из 768,140,288 (2</a:t>
            </a:r>
            <a:r>
              <a:rPr lang="en-US" dirty="0"/>
              <a:t>%)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971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0E237-0AC6-E85A-FF8F-DEA37B19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>
            <a:normAutofit/>
          </a:bodyPr>
          <a:lstStyle/>
          <a:p>
            <a:r>
              <a:rPr lang="ru-RU" dirty="0"/>
              <a:t>Дообучение модели </a:t>
            </a:r>
            <a:r>
              <a:rPr lang="en-US" dirty="0"/>
              <a:t>BART. </a:t>
            </a:r>
            <a:r>
              <a:rPr lang="ru-RU" dirty="0"/>
              <a:t>Результаты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A0DB02B-2406-92B2-AEEE-79C59102F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545" y="1164045"/>
            <a:ext cx="3624744" cy="25058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927C31-F6B8-2D33-0615-CE62DFF5F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713" y="1464643"/>
            <a:ext cx="3940703" cy="1842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36560E-EAEC-78D0-8441-B9963DE00735}"/>
              </a:ext>
            </a:extLst>
          </p:cNvPr>
          <p:cNvSpPr txBox="1"/>
          <p:nvPr/>
        </p:nvSpPr>
        <p:spPr>
          <a:xfrm>
            <a:off x="855421" y="3822607"/>
            <a:ext cx="10671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 помощью адаптера </a:t>
            </a:r>
            <a:r>
              <a:rPr lang="en-US" dirty="0" err="1"/>
              <a:t>LoRA</a:t>
            </a:r>
            <a:r>
              <a:rPr lang="ru-RU" dirty="0"/>
              <a:t> число обучаемых параметров составило 1,179,648  из 407,470,080 (2</a:t>
            </a:r>
            <a:r>
              <a:rPr lang="en-US" dirty="0"/>
              <a:t>,8%)</a:t>
            </a:r>
            <a:endParaRPr lang="ru-RU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B2D5864-4ADF-1CF0-DCD0-623070009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635435"/>
              </p:ext>
            </p:extLst>
          </p:nvPr>
        </p:nvGraphicFramePr>
        <p:xfrm>
          <a:off x="1818950" y="4500694"/>
          <a:ext cx="8543452" cy="167779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135863">
                  <a:extLst>
                    <a:ext uri="{9D8B030D-6E8A-4147-A177-3AD203B41FA5}">
                      <a16:colId xmlns:a16="http://schemas.microsoft.com/office/drawing/2014/main" val="3170419272"/>
                    </a:ext>
                  </a:extLst>
                </a:gridCol>
                <a:gridCol w="2135863">
                  <a:extLst>
                    <a:ext uri="{9D8B030D-6E8A-4147-A177-3AD203B41FA5}">
                      <a16:colId xmlns:a16="http://schemas.microsoft.com/office/drawing/2014/main" val="3514579677"/>
                    </a:ext>
                  </a:extLst>
                </a:gridCol>
                <a:gridCol w="2135863">
                  <a:extLst>
                    <a:ext uri="{9D8B030D-6E8A-4147-A177-3AD203B41FA5}">
                      <a16:colId xmlns:a16="http://schemas.microsoft.com/office/drawing/2014/main" val="547610131"/>
                    </a:ext>
                  </a:extLst>
                </a:gridCol>
                <a:gridCol w="2135863">
                  <a:extLst>
                    <a:ext uri="{9D8B030D-6E8A-4147-A177-3AD203B41FA5}">
                      <a16:colId xmlns:a16="http://schemas.microsoft.com/office/drawing/2014/main" val="3137523"/>
                    </a:ext>
                  </a:extLst>
                </a:gridCol>
              </a:tblGrid>
              <a:tr h="54688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Этап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ROUGE-1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L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351347"/>
                  </a:ext>
                </a:extLst>
              </a:tr>
              <a:tr h="56545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Обучение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41.23%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29.97%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5281"/>
                  </a:ext>
                </a:extLst>
              </a:tr>
              <a:tr h="56545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38.16%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15.07%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27.72%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528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754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A3D9F-37C5-178E-D775-E80D4452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266" y="51732"/>
            <a:ext cx="10353762" cy="970450"/>
          </a:xfrm>
        </p:spPr>
        <p:txBody>
          <a:bodyPr>
            <a:normAutofit/>
          </a:bodyPr>
          <a:lstStyle/>
          <a:p>
            <a:r>
              <a:rPr lang="ru-RU" dirty="0"/>
              <a:t>Дообучение модели </a:t>
            </a:r>
            <a:r>
              <a:rPr lang="en-US" dirty="0" err="1"/>
              <a:t>FinBERT</a:t>
            </a:r>
            <a:r>
              <a:rPr lang="en-US" dirty="0"/>
              <a:t>. </a:t>
            </a:r>
            <a:r>
              <a:rPr lang="ru-RU" dirty="0"/>
              <a:t>Результаты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23E3205-36A1-25DA-5906-E1EA36CC5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3927" y="1118656"/>
            <a:ext cx="3783167" cy="17767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7A3629-E7B1-5089-9D44-F986E6FECE12}"/>
              </a:ext>
            </a:extLst>
          </p:cNvPr>
          <p:cNvSpPr txBox="1"/>
          <p:nvPr/>
        </p:nvSpPr>
        <p:spPr>
          <a:xfrm>
            <a:off x="917119" y="3380567"/>
            <a:ext cx="10930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 помощью адаптера </a:t>
            </a:r>
            <a:r>
              <a:rPr lang="en-US" dirty="0" err="1"/>
              <a:t>LoRA</a:t>
            </a:r>
            <a:r>
              <a:rPr lang="ru-RU" dirty="0"/>
              <a:t> число обучаемых параметров составило 297,219 из 109,781,766 (2</a:t>
            </a:r>
            <a:r>
              <a:rPr lang="en-US" dirty="0"/>
              <a:t>,7%)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747A9C-B2E0-62F8-4357-B7D79B769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882" y="946682"/>
            <a:ext cx="2411255" cy="2346086"/>
          </a:xfrm>
          <a:prstGeom prst="rect">
            <a:avLst/>
          </a:prstGeom>
        </p:spPr>
      </p:pic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F5223387-0FC8-8E36-3615-9C38C5F39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5999"/>
              </p:ext>
            </p:extLst>
          </p:nvPr>
        </p:nvGraphicFramePr>
        <p:xfrm>
          <a:off x="3273449" y="3837698"/>
          <a:ext cx="5525395" cy="25958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61394">
                  <a:extLst>
                    <a:ext uri="{9D8B030D-6E8A-4147-A177-3AD203B41FA5}">
                      <a16:colId xmlns:a16="http://schemas.microsoft.com/office/drawing/2014/main" val="846377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8190812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67796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83342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Класс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P</a:t>
                      </a: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effectLst/>
                        </a:rPr>
                        <a:t>recision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R</a:t>
                      </a: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effectLst/>
                        </a:rPr>
                        <a:t>ecall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F</a:t>
                      </a: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1-score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08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94%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13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49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253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766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macro avg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871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weighed avg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481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4B108-677F-6E51-CC24-EEB3A6C5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24" y="206929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PEGASUS vs</a:t>
            </a:r>
            <a:r>
              <a:rPr lang="ru-RU" dirty="0"/>
              <a:t> </a:t>
            </a:r>
            <a:r>
              <a:rPr lang="en-US" dirty="0"/>
              <a:t>BART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14FA60D-C7C5-8423-5BAA-70DAAE391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747701"/>
              </p:ext>
            </p:extLst>
          </p:nvPr>
        </p:nvGraphicFramePr>
        <p:xfrm>
          <a:off x="819324" y="1618711"/>
          <a:ext cx="10553351" cy="415711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762342">
                  <a:extLst>
                    <a:ext uri="{9D8B030D-6E8A-4147-A177-3AD203B41FA5}">
                      <a16:colId xmlns:a16="http://schemas.microsoft.com/office/drawing/2014/main" val="3146132936"/>
                    </a:ext>
                  </a:extLst>
                </a:gridCol>
                <a:gridCol w="2301501">
                  <a:extLst>
                    <a:ext uri="{9D8B030D-6E8A-4147-A177-3AD203B41FA5}">
                      <a16:colId xmlns:a16="http://schemas.microsoft.com/office/drawing/2014/main" val="3311993290"/>
                    </a:ext>
                  </a:extLst>
                </a:gridCol>
                <a:gridCol w="2122415">
                  <a:extLst>
                    <a:ext uri="{9D8B030D-6E8A-4147-A177-3AD203B41FA5}">
                      <a16:colId xmlns:a16="http://schemas.microsoft.com/office/drawing/2014/main" val="2960811410"/>
                    </a:ext>
                  </a:extLst>
                </a:gridCol>
                <a:gridCol w="2367093">
                  <a:extLst>
                    <a:ext uri="{9D8B030D-6E8A-4147-A177-3AD203B41FA5}">
                      <a16:colId xmlns:a16="http://schemas.microsoft.com/office/drawing/2014/main" val="643313278"/>
                    </a:ext>
                  </a:extLst>
                </a:gridCol>
              </a:tblGrid>
              <a:tr h="83142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Модель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ROUGE-1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effectLst/>
                        </a:rPr>
                        <a:t>ROUGE-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</a:rPr>
                        <a:t>L</a:t>
                      </a:r>
                      <a:endParaRPr lang="ru-RU" sz="18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555158"/>
                  </a:ext>
                </a:extLst>
              </a:tr>
              <a:tr h="831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PEGASUS (</a:t>
                      </a:r>
                      <a:r>
                        <a:rPr lang="ru-RU" dirty="0"/>
                        <a:t>обучение)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45.07%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21.33%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36.75%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805371"/>
                  </a:ext>
                </a:extLst>
              </a:tr>
              <a:tr h="831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PEGASUS (</a:t>
                      </a:r>
                      <a:r>
                        <a:rPr lang="ru-RU" dirty="0"/>
                        <a:t>тестирование)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</a:rPr>
                        <a:t>43.09%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</a:rPr>
                        <a:t>19.97%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</a:rPr>
                        <a:t>33.48%</a:t>
                      </a:r>
                      <a:endParaRPr lang="ru-RU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551387"/>
                  </a:ext>
                </a:extLst>
              </a:tr>
              <a:tr h="831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BART (</a:t>
                      </a:r>
                      <a:r>
                        <a:rPr lang="ru-RU" dirty="0"/>
                        <a:t>обучение)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41.23%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17.67%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29.97%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416132"/>
                  </a:ext>
                </a:extLst>
              </a:tr>
              <a:tr h="831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BART (</a:t>
                      </a:r>
                      <a:r>
                        <a:rPr lang="ru-RU" dirty="0"/>
                        <a:t>тестирование)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38.16%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15.07%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27.72%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422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032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2E233-F91B-6780-A108-71CDFA369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738" y="30759"/>
            <a:ext cx="10353762" cy="970450"/>
          </a:xfrm>
        </p:spPr>
        <p:txBody>
          <a:bodyPr/>
          <a:lstStyle/>
          <a:p>
            <a:r>
              <a:rPr lang="en-US" dirty="0"/>
              <a:t> </a:t>
            </a:r>
            <a:r>
              <a:rPr lang="ru-RU" dirty="0"/>
              <a:t>Пример работы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654E2C-77DF-AAB8-EEE8-0793D0EEF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04" y="834704"/>
            <a:ext cx="8173582" cy="563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76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4D159-2E65-6DDA-73A4-6528DE9BD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877" y="0"/>
            <a:ext cx="10353762" cy="970450"/>
          </a:xfrm>
        </p:spPr>
        <p:txBody>
          <a:bodyPr/>
          <a:lstStyle/>
          <a:p>
            <a:r>
              <a:rPr lang="ru-RU" dirty="0"/>
              <a:t>Пример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B65B43-FE45-4E8A-635F-3C9DA8E6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775" y="869119"/>
            <a:ext cx="7826929" cy="561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3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DC4D1-DE06-3F67-0B3B-9BB44B37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49" y="0"/>
            <a:ext cx="10353762" cy="970450"/>
          </a:xfrm>
        </p:spPr>
        <p:txBody>
          <a:bodyPr/>
          <a:lstStyle/>
          <a:p>
            <a:r>
              <a:rPr lang="ru-RU" dirty="0"/>
              <a:t>Пример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C002AC-46AF-BE27-C6CE-715EDB35D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725" y="901138"/>
            <a:ext cx="8004550" cy="56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169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6253D98-6972-6564-C7E5-D26DF83DA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2566" y="2716483"/>
            <a:ext cx="7133034" cy="1995486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9185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1308</TotalTime>
  <Words>584</Words>
  <Application>Microsoft Office PowerPoint</Application>
  <PresentationFormat>Широкоэкранный</PresentationFormat>
  <Paragraphs>131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Calisto MT</vt:lpstr>
      <vt:lpstr>Cambria Math</vt:lpstr>
      <vt:lpstr>Wingdings 2</vt:lpstr>
      <vt:lpstr>Сланец</vt:lpstr>
      <vt:lpstr>Интеллектуальная система анализа финансовых новостей с использованием методов машинного обучения для классификации и суммаризации текста</vt:lpstr>
      <vt:lpstr>Цель и актуальность работы</vt:lpstr>
      <vt:lpstr>Reuters Financial News dataset</vt:lpstr>
      <vt:lpstr>Financial classification dataset</vt:lpstr>
      <vt:lpstr>Pegasus - Pre-training with Extracted Gap-sentences for Abstractive Summarization</vt:lpstr>
      <vt:lpstr>BART - Bidirectional and Auto-Regressive Transformer</vt:lpstr>
      <vt:lpstr>FinBERT</vt:lpstr>
      <vt:lpstr>LoRA - Low-Rank Adaptation</vt:lpstr>
      <vt:lpstr>Метрика качества ROUNGE</vt:lpstr>
      <vt:lpstr>Дообучение модели PEGASUS. Результаты</vt:lpstr>
      <vt:lpstr>Дообучение модели BART. Результаты</vt:lpstr>
      <vt:lpstr>Дообучение модели FinBERT. Результаты</vt:lpstr>
      <vt:lpstr>PEGASUS vs BART</vt:lpstr>
      <vt:lpstr> Пример работы</vt:lpstr>
      <vt:lpstr>Пример работы</vt:lpstr>
      <vt:lpstr>Пример работы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</dc:creator>
  <cp:lastModifiedBy>Dan</cp:lastModifiedBy>
  <cp:revision>13</cp:revision>
  <dcterms:created xsi:type="dcterms:W3CDTF">2026-05-24T14:24:52Z</dcterms:created>
  <dcterms:modified xsi:type="dcterms:W3CDTF">2026-06-07T10:33:54Z</dcterms:modified>
</cp:coreProperties>
</file>